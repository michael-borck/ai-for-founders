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start:** this slide up as people arrive; poll QR live. Point at it once: *"While you arrive — one question."*</a:t>
            </a:r>
          </a:p>
          <a:p/>
          <a:p>
            <a:r>
              <a:t>**Say:** the provocation, verbatim: *"AI can now draft your copy, model your numbers, and rehearse your pitch — which means it can do the same for every other founder in the room. When a capability becomes universal, generic competence stops being an advantage. So where does your edge actually live?"*</a:t>
            </a:r>
          </a:p>
          <a:p/>
          <a:p>
            <a:r>
              <a:t>Show of hands: *"Who's used AI on their idea this week?"* Don't dwell.</a:t>
            </a:r>
          </a:p>
          <a:p/>
          <a:p>
            <a:r>
              <a:t>Housekeeping (20 s): *"The slides are signposts, not the handout. The companion site is the handout — every prompt we run today lives there. Scan it now; it comes back on screen when we go live."*</a:t>
            </a:r>
          </a:p>
          <a:p/>
          <a:p>
            <a:r>
              <a:t>**Do:** glance at the poll histogram — mostly A/B → slow the follow-along instruction later; mostly C/D → push the parallel work harder.</a:t>
            </a:r>
          </a:p>
          <a:p/>
          <a:p>
            <a:r>
              <a:t>**Advance:** after the housekeeping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walk the three rows top to bottom — same capability, every founder in the room; generic competence is the baseline, not the advantage; the edge lives in your judgement: taste, context, variation no rival's identical model reproduces.</a:t>
            </a:r>
          </a:p>
          <a:p/>
          <a:p>
            <a:r>
              <a:t>**Advance:** when the judgement line lands. You'll return to this thesis twice more — after the two-pass reveal, and at the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(30 s, dry understatement):** ~30 tools shipped solo, in conversation with AI. AI taught at undergrad, postgrad, exec ed. Then the line that matters: *"the deck you're watching, the site you scanned, and the poll you just answered were all built in conversation with AI."* Move on.</a:t>
            </a:r>
          </a:p>
          <a:p/>
          <a:p>
            <a:r>
              <a:t>**Then name the demo idea (one line, before you advance):** *"We're going to take one idea through three moves, live — a receipt-scanning app for Australian tradies — and you'll run the same moves on your own idea at the same time."*</a:t>
            </a:r>
          </a:p>
          <a:p/>
          <a:p>
            <a:r>
              <a:t>**Advance:** straight into the traps.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model tells you what you want to hear. Ask 'what do you think of my idea?' and you get praise first, gentle criticism second. It's managing your feelings, not assessing your work. It's not a bug — it's how the model was trained."* This is the trap that makes founders stop iterating.</a:t>
            </a:r>
          </a:p>
          <a:p/>
          <a:p>
            <a:r>
              <a:t>**Plant the defence:** *"The defence is to prompt past it — and that's exactly what move 2 does."*</a:t>
            </a:r>
          </a:p>
          <a:p/>
          <a:p>
            <a:r>
              <a:t>**Advance:** once the defence is planted.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catch the AI's errors in your own domain, then trust it blindly on the market, the regulations, the numbers — the bits you can't check. Smooth prose feels authoritative. Smoothness and accuracy are unrelated."*</a:t>
            </a:r>
          </a:p>
          <a:p/>
          <a:p>
            <a:r>
              <a:t>Defence: the same scepticism where you know least — more, if anything, because you have fewer tools to catch the errors.</a:t>
            </a:r>
          </a:p>
          <a:p/>
          <a:p>
            <a:r>
              <a:t>(Dismissal Fallacy is deliberately skipped — don't mention it.)</a:t>
            </a:r>
          </a:p>
          <a:p/>
          <a:p>
            <a:r>
              <a:t>**Advance:** into the live block. This is the minute-12 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 the IP beat, before anyone pastes:** *"A free chatbot is someone else's cloud — what you paste goes to that company. If your idea is commercially sensitive, don't paste it today: work the tradie example with us now, and run your idea tonight on a local model — one install, Msty, nothing leaves your laptop; it's on the site. Cloud models are the strongest; local models are weaker but yours. That trade never goes away."*</a:t>
            </a:r>
          </a:p>
          <a:p/>
          <a:p>
            <a:r>
              <a:t>**Then the instruction:** open one of the free chats on the slide. Run each move on YOUR idea in parallel with the tradie demo — or just watch. Both work. Follow-along QR is on this slide.</a:t>
            </a:r>
          </a:p>
          <a:p/>
          <a:p>
            <a:r>
              <a:t>**Do:** open the companion site on the projector, scroll to the session prompts (`#session`) — the room sees the handout being used. Open the fresh chat tab beside it.</a:t>
            </a:r>
          </a:p>
          <a:p/>
          <a:p>
            <a:r>
              <a:t>**Advance:** to slide 7 as you copy session prompt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is the backdrop; the work happens in the browser.</a:t>
            </a:r>
          </a:p>
          <a:p/>
          <a:p>
            <a:r>
              <a:t>**Do — pass 1:** paste session prompt 1 (naive validate) into the chat. Let the love-fest scroll.</a:t>
            </a:r>
          </a:p>
          <a:p/>
          <a:p>
            <a:r>
              <a:t>**Say:** *"This just told a stranger their idea is brilliant — the sycophancy trap we named ten minutes ago, live. It's useful, but it's managing my feelings, and it would say it to every founder in this room."*</a:t>
            </a:r>
          </a:p>
          <a:p/>
          <a:p>
            <a:r>
              <a:t>**Do — pass 2:** back to the site, copy session prompt 2 (with edge). Before sending, walk its parts against the slide: Role · Task · **Context** · Format — the paste-as-is version has no tags; the labels are on the slide and in the site's template.</a:t>
            </a:r>
          </a:p>
          <a:p/>
          <a:p>
            <a:r>
              <a:t>**Say when it returns:** same model, same idea — now a sceptical investor, three assumptions ranked by risk, the scariest first. *"The AI did not get smarter. I directed it."* Then the thesis, second landing: *"The Context line is the whole session in one box. No model supplies it."*</a:t>
            </a:r>
          </a:p>
          <a:p/>
          <a:p>
            <a:r>
              <a:t>**Hold this thought:** the same model that just said "genuinely brilliant" will call this a PIVOT with a $50 experiment by move 2. Name that arc when you get there.</a:t>
            </a:r>
          </a:p>
          <a:p/>
          <a:p>
            <a:r>
              <a:t>**Advance:** to slide 8 as you copy session prompt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paste session prompt 3 (do not flatter me / three reasons this fails). Read the failures out. Then session prompt 4 (Scale / Pivot / Kill + cheapest experiment).</a:t>
            </a:r>
          </a:p>
          <a:p/>
          <a:p>
            <a:r>
              <a:t>**Say — name the arc:** *"Ten minutes ago this model called the idea genuinely brilliant. Now it says PIVOT and prescribes a $50 experiment. Cheerleader to honest critic to cheap test — that's the whole session in one thread."*</a:t>
            </a:r>
          </a:p>
          <a:p/>
          <a:p>
            <a:r>
              <a:t>**Normalise killing, out loud:** a fast, cheap kill beats a slow, expensive one.</a:t>
            </a:r>
          </a:p>
          <a:p/>
          <a:p>
            <a:r>
              <a:t>**Name it:** what we just did is the *devil's advocate* — first of three push-back tools; the other two get one line each after move 3.</a:t>
            </a:r>
          </a:p>
          <a:p/>
          <a:p>
            <a:r>
              <a:t>**Advance:** to slide 9 as you copy session prompt 5. (Time check: behind at minute 36? Cut move 3's second pass — never the two-pass reveal.)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 pass 1:** paste session prompt 5 (generic 60-word pitch). **Say:** slick, forgettable, the average.</a:t>
            </a:r>
          </a:p>
          <a:p/>
          <a:p>
            <a:r>
              <a:t>**Do — pass 2:** paste session prompt 6 — the ~100-word tradie voice sample is baked in ("they don't hate tax — they hate the chair"). The room uses the template with their *own* writing.</a:t>
            </a:r>
          </a:p>
          <a:p/>
          <a:p>
            <a:r>
              <a:t>**Say:** compare the two pitches side by side on the projector. The difference *is* the edge. One-line nod: make it permanent with a style brief in your custom instructions — the two-page voice method, linked on the site.</a:t>
            </a:r>
          </a:p>
          <a:p/>
          <a:p>
            <a:r>
              <a:t>**Advance:** to slide 10 for the trio.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line each:** the *devil's advocate* — you just did it in move 2. The *board of directors* — same question to a room of voices (cautious CFO, sceptical customer, growth marketer); they advise, you decide. And *VET* — Verify the source, Explain it back, Test the edges — for any claim you can't check. Prompts for all three on the site.</a:t>
            </a:r>
          </a:p>
          <a:p/>
          <a:p>
            <a:r>
              <a:t>**Advance:** into the trust tool; VET earns its keep there.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grid, taught once — Average/Precise × Small/Large. Walk the founder examples on the slide: lean in for competitor scans, brainstorming, first drafts; human owns the go/no-go, the customer, any number in a pitch or contract.</a:t>
            </a:r>
          </a:p>
          <a:p/>
          <a:p>
            <a:r>
              <a:t>The keeper sentence: *"Where it hurts to be wrong, you stay in charge."*</a:t>
            </a:r>
          </a:p>
          <a:p/>
          <a:p>
            <a:r>
              <a:t>And the how of the verify column: VET — it's in the starter prompts as "VET the claim."</a:t>
            </a:r>
          </a:p>
          <a:p/>
          <a:p>
            <a:r>
              <a:t>**Advance:** at the 53-minute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slowly — this is what they repeat Monday morning:** Add context — the specifics only you hold. Prompt past the flattery — never "what do you think?", always "why does this fail?". Stay sceptical where you know least.</a:t>
            </a:r>
          </a:p>
          <a:p/>
          <a:p>
            <a:r>
              <a:t>Thesis, third landing: *"AI as a thinking partner, not a stand-in."*</a:t>
            </a:r>
          </a:p>
          <a:p/>
          <a:p>
            <a:r>
              <a:t>**Advance:** into takeaways.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site is the handout — RTCF builder, prompt library, trust tool, all of today's prompts. Tonight: run move 1 on your real idea — naive first, then with your edge; feel the difference. Tools beyond free chat — Gemini Notebook for your documents, Msty for private local AI — all linked.</a:t>
            </a:r>
          </a:p>
          <a:p/>
          <a:p>
            <a:r>
              <a:t>**Close on the line:** *"Direct it. Don't delegate. Never surrender."*</a:t>
            </a:r>
          </a:p>
          <a:p/>
          <a:p>
            <a:r>
              <a:t>**Do:** leave this slide up as they go — the QR keeps working.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classpulse.borck.education/audience/RXARHX" TargetMode="External"/><Relationship Id="rId5" Type="http://schemas.openxmlformats.org/officeDocument/2006/relationships/hyperlink" Target="https://michael-borck.github.io/ai-for-founders/"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hyperlink" Target="https://michael-borck.github.io/ai-for-founder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hyperlink" Target="https://michael-borck.github.io/ai-for-founder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3"/>
          <a:stretch>
            <a:fillRect/>
          </a:stretch>
        </p:blipFill>
        <p:spPr>
          <a:xfrm>
            <a:off x="0" y="0"/>
            <a:ext cx="12192000" cy="6858000"/>
          </a:xfrm>
          <a:prstGeom prst="rect">
            <a:avLst/>
          </a:prstGeom>
        </p:spPr>
      </p:pic>
      <p:sp>
        <p:nvSpPr>
          <p:cNvPr id="3" name="Rectangle 2">
            <a:hlinkClick r:id="rId4"/>
          </p:cNvPr>
          <p:cNvSpPr/>
          <p:nvPr/>
        </p:nvSpPr>
        <p:spPr>
          <a:xfrm>
            <a:off x="1333500" y="3908970"/>
            <a:ext cx="1047750" cy="1047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a:hlinkClick r:id="rId4"/>
          </p:cNvPr>
          <p:cNvSpPr/>
          <p:nvPr/>
        </p:nvSpPr>
        <p:spPr>
          <a:xfrm>
            <a:off x="2548830" y="4542680"/>
            <a:ext cx="3264544" cy="1714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a:hlinkClick r:id="rId5"/>
          </p:cNvPr>
          <p:cNvSpPr/>
          <p:nvPr/>
        </p:nvSpPr>
        <p:spPr>
          <a:xfrm>
            <a:off x="1333500" y="5581352"/>
            <a:ext cx="1047750" cy="1047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a:hlinkClick r:id="rId5"/>
          </p:cNvPr>
          <p:cNvSpPr/>
          <p:nvPr/>
        </p:nvSpPr>
        <p:spPr>
          <a:xfrm>
            <a:off x="4958357" y="6114752"/>
            <a:ext cx="3031331" cy="1714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3"/>
          <a:stretch>
            <a:fillRect/>
          </a:stretch>
        </p:blipFill>
        <p:spPr>
          <a:xfrm>
            <a:off x="0" y="0"/>
            <a:ext cx="12192000" cy="6858000"/>
          </a:xfrm>
          <a:prstGeom prst="rect">
            <a:avLst/>
          </a:prstGeom>
        </p:spPr>
      </p:pic>
      <p:sp>
        <p:nvSpPr>
          <p:cNvPr id="3" name="Rectangle 2">
            <a:hlinkClick r:id="rId4"/>
          </p:cNvPr>
          <p:cNvSpPr/>
          <p:nvPr/>
        </p:nvSpPr>
        <p:spPr>
          <a:xfrm>
            <a:off x="1333500" y="5001815"/>
            <a:ext cx="1047750" cy="1047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a:hlinkClick r:id="rId4"/>
          </p:cNvPr>
          <p:cNvSpPr/>
          <p:nvPr/>
        </p:nvSpPr>
        <p:spPr>
          <a:xfrm>
            <a:off x="2548830" y="5535215"/>
            <a:ext cx="3031331" cy="1714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3"/>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3"/>
          <a:stretch>
            <a:fillRect/>
          </a:stretch>
        </p:blipFill>
        <p:spPr>
          <a:xfrm>
            <a:off x="0" y="0"/>
            <a:ext cx="12192000" cy="6858000"/>
          </a:xfrm>
          <a:prstGeom prst="rect">
            <a:avLst/>
          </a:prstGeom>
        </p:spPr>
      </p:pic>
      <p:sp>
        <p:nvSpPr>
          <p:cNvPr id="3" name="Rectangle 2">
            <a:hlinkClick r:id="rId4"/>
          </p:cNvPr>
          <p:cNvSpPr/>
          <p:nvPr/>
        </p:nvSpPr>
        <p:spPr>
          <a:xfrm>
            <a:off x="1333500" y="4645669"/>
            <a:ext cx="1047750" cy="10477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a:hlinkClick r:id="rId4"/>
          </p:cNvPr>
          <p:cNvSpPr/>
          <p:nvPr/>
        </p:nvSpPr>
        <p:spPr>
          <a:xfrm>
            <a:off x="2548830" y="5179069"/>
            <a:ext cx="3031331" cy="1714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