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Hook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for Founders: Where Your Edge Lives</a:t>
            </a:r>
          </a:p>
          <a:p>
            <a:pPr lvl="0" indent="0" marL="1270000">
              <a:buNone/>
            </a:pPr>
            <a:r>
              <a:rPr sz="2000"/>
              <a:t>When a capability becomes universal, generic competence stops being an advantage. So where does your edge actually live?</a:t>
            </a:r>
          </a:p>
          <a:p>
            <a:pPr lvl="0" indent="0" marL="0">
              <a:buNone/>
            </a:pPr>
            <a:r>
              <a:rPr i="1"/>
              <a:t>Show of hands: who’s used AI on their idea this week?</a:t>
            </a:r>
          </a:p>
          <a:p>
            <a:pPr lvl="0" indent="0" marL="0">
              <a:buNone/>
            </a:pPr>
            <a:r>
              <a:rPr b="1"/>
              <a:t>Slides are signposts — the companion site is the handout.</a:t>
            </a:r>
            <a:r>
              <a:rPr/>
              <a:t> QR + link on this slide (and again on slides 5 and 12): prompts, tools, and this deck all live at michael-borck.github.io/ai-for-founders. Beside it, the </a:t>
            </a:r>
            <a:r>
              <a:rPr b="1"/>
              <a:t>poll QR</a:t>
            </a:r>
            <a:r>
              <a:rPr/>
              <a:t> (classpulse.borck.education/audience/RXARHX), framed “While you arrive — one question:” — skim the histogram at minute 4 and pace accordingly.</a:t>
            </a:r>
          </a:p>
          <a:p>
            <a:pPr lvl="0" indent="0" marL="0">
              <a:buNone/>
            </a:pPr>
            <a:r>
              <a:rPr b="1"/>
              <a:t>While you arrive — one question:</a:t>
            </a:r>
          </a:p>
        </p:txBody>
      </p:sp>
      <p:pic>
        <p:nvPicPr>
          <p:cNvPr descr="qr-po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Poll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site is the handout:</a:t>
            </a:r>
          </a:p>
        </p:txBody>
      </p:sp>
      <p:pic>
        <p:nvPicPr>
          <p:cNvPr descr="qr-compan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Companion site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capability that drafts your copy, models your numbers, and rehearses your pitch can do the same for </a:t>
            </a:r>
            <a:r>
              <a:rPr b="1"/>
              <a:t>every other founder in the room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Generic competence is the </a:t>
            </a:r>
            <a:r>
              <a:rPr b="1"/>
              <a:t>baseline</a:t>
            </a:r>
            <a:r>
              <a:rPr/>
              <a:t> — not the advantage.</a:t>
            </a:r>
          </a:p>
          <a:p>
            <a:pPr lvl="0" indent="0" marL="0">
              <a:buNone/>
            </a:pPr>
            <a:r>
              <a:rPr/>
              <a:t>The edge lives in your judgement: taste, context, and the variation no rival’s identical model can reproduce.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Trap 1: Sycophancy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model tells you what you want to hear.</a:t>
            </a:r>
          </a:p>
          <a:p>
            <a:pPr lvl="0" indent="0" marL="0">
              <a:buNone/>
            </a:pPr>
            <a:r>
              <a:rPr/>
              <a:t>Ask </a:t>
            </a:r>
            <a:r>
              <a:rPr i="1"/>
              <a:t>“what do you think?”</a:t>
            </a:r>
            <a:r>
              <a:rPr/>
              <a:t> → praise first, gentle critique second.</a:t>
            </a:r>
          </a:p>
          <a:p>
            <a:pPr lvl="0" indent="0" marL="0">
              <a:buNone/>
            </a:pPr>
            <a:r>
              <a:rPr/>
              <a:t>It’s managing your feelings, not assessing your work.</a:t>
            </a:r>
          </a:p>
          <a:p>
            <a:pPr lvl="0" indent="0" marL="0">
              <a:buNone/>
            </a:pPr>
            <a:r>
              <a:rPr b="1"/>
              <a:t>Defence:</a:t>
            </a:r>
            <a:r>
              <a:rPr/>
              <a:t> prompt past it. </a:t>
            </a:r>
            <a:r>
              <a:rPr i="1"/>
              <a:t>(We do this in move 2.)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Trap 2: Gell-Mann Amnesia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catch its errors in your own domain.</a:t>
            </a:r>
          </a:p>
          <a:p>
            <a:pPr lvl="0" indent="0" marL="0">
              <a:buNone/>
            </a:pPr>
            <a:r>
              <a:rPr/>
              <a:t>You trust it on the market, the regs, the numbers — the bits you can’t check.</a:t>
            </a:r>
          </a:p>
          <a:p>
            <a:pPr lvl="0" indent="0" marL="0">
              <a:buNone/>
            </a:pPr>
            <a:r>
              <a:rPr/>
              <a:t>Smooth prose feels authoritative. </a:t>
            </a:r>
            <a:r>
              <a:rPr b="1"/>
              <a:t>Smoothness ≠ accuracy.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LIVE: one idea, three moves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Working in </a:t>
            </a:r>
            <a:r>
              <a:rPr b="1"/>
              <a:t>free chat</a:t>
            </a:r>
            <a:r>
              <a:rPr/>
              <a:t> — no subscription, nothing to install.</a:t>
            </a:r>
          </a:p>
          <a:p>
            <a:pPr lvl="0" indent="-342900" marL="342900">
              <a:buAutoNum type="arabicPeriod"/>
            </a:pPr>
            <a:r>
              <a:rPr b="1"/>
              <a:t>Validate</a:t>
            </a:r>
            <a:r>
              <a:rPr/>
              <a:t> — RTCF, two-pass</a:t>
            </a:r>
          </a:p>
          <a:p>
            <a:pPr lvl="0" indent="-342900" marL="342900">
              <a:buAutoNum type="arabicPeriod"/>
            </a:pPr>
            <a:r>
              <a:rPr b="1"/>
              <a:t>Pressure-test</a:t>
            </a:r>
            <a:r>
              <a:rPr/>
              <a:t> — past the flattery</a:t>
            </a:r>
          </a:p>
          <a:p>
            <a:pPr lvl="0" indent="-342900" marL="342900">
              <a:buAutoNum type="arabicPeriod"/>
            </a:pPr>
            <a:r>
              <a:rPr b="1"/>
              <a:t>Sharpen the pitch</a:t>
            </a:r>
            <a:r>
              <a:rPr/>
              <a:t> — two-pass on the pitch</a:t>
            </a:r>
          </a:p>
          <a:p>
            <a:pPr lvl="0" indent="0" marL="0">
              <a:buNone/>
            </a:pPr>
            <a:r>
              <a:rPr i="1"/>
              <a:t>Run each on YOUR idea, in parallel with the volunteer’s. Sensitive idea? Work the tradie example today — run yours tonight on a local model.</a:t>
            </a:r>
          </a:p>
        </p:txBody>
      </p:sp>
      <p:pic>
        <p:nvPicPr>
          <p:cNvPr descr="qr-compan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Follow along — today’s prompts, top of the site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1: Validate (two-pass)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Pass 1 (naive):</a:t>
            </a:r>
            <a:r>
              <a:rPr/>
              <a:t> an enthusiastic, over-long love-fest. </a:t>
            </a:r>
            <a:r>
              <a:rPr i="1"/>
              <a:t>Sycophancy, live.</a:t>
            </a:r>
          </a:p>
          <a:p>
            <a:pPr lvl="0" indent="0" marL="0">
              <a:buNone/>
            </a:pPr>
            <a:r>
              <a:rPr b="1"/>
              <a:t>Pass 2 (with edge):</a:t>
            </a:r>
            <a:r>
              <a:rPr/>
              <a:t> Role · Task · </a:t>
            </a:r>
            <a:r>
              <a:rPr b="1"/>
              <a:t>Context</a:t>
            </a:r>
            <a:r>
              <a:rPr/>
              <a:t> · Format.</a:t>
            </a:r>
          </a:p>
          <a:p>
            <a:pPr lvl="0" indent="0" marL="1270000">
              <a:buNone/>
            </a:pPr>
            <a:r>
              <a:rPr sz="2000"/>
              <a:t>Context is where your edge enters. No model supplies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2: Pressure-test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Do not flatter me. Three reasons this fails. Name the load-bearing assumption.</a:t>
            </a:r>
          </a:p>
          <a:p>
            <a:pPr lvl="0" indent="0" marL="0">
              <a:buNone/>
            </a:pPr>
            <a:r>
              <a:rPr/>
              <a:t>Then: </a:t>
            </a:r>
            <a:r>
              <a:rPr b="1"/>
              <a:t>Scale / Pivot / Kill</a:t>
            </a:r>
            <a:r>
              <a:rPr/>
              <a:t> — and the cheapest experiment that moves it up a notch.</a:t>
            </a:r>
          </a:p>
          <a:p>
            <a:pPr lvl="0" indent="0" marL="0">
              <a:buNone/>
            </a:pPr>
            <a:r>
              <a:rPr i="1"/>
              <a:t>Killing is a good outcome.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3: Sharpen the pitch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Pass 1:</a:t>
            </a:r>
            <a:r>
              <a:rPr/>
              <a:t> generic 60-word pitch. Forgettable.</a:t>
            </a:r>
          </a:p>
          <a:p>
            <a:pPr lvl="0" indent="0" marL="0">
              <a:buNone/>
            </a:pPr>
            <a:r>
              <a:rPr b="1"/>
              <a:t>Pass 2:</a:t>
            </a:r>
            <a:r>
              <a:rPr/>
              <a:t> in </a:t>
            </a:r>
            <a:r>
              <a:rPr i="1"/>
              <a:t>your</a:t>
            </a:r>
            <a:r>
              <a:rPr/>
              <a:t> voice, leading with the one thing only you would say.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back: three 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Devil’s advocate</a:t>
            </a:r>
            <a:r>
              <a:rPr/>
              <a:t> — make it attack your idea; you decide what survives. </a:t>
            </a:r>
            <a:r>
              <a:rPr i="1"/>
              <a:t>(You just did this in move 2.)</a:t>
            </a:r>
          </a:p>
          <a:p>
            <a:pPr lvl="0" indent="-342900" marL="342900">
              <a:buAutoNum type="arabicPeriod"/>
            </a:pPr>
            <a:r>
              <a:rPr b="1"/>
              <a:t>Board of directors</a:t>
            </a:r>
            <a:r>
              <a:rPr/>
              <a:t> — a room of voices (CFO, sceptical customer, growth marketer), not one answer. You weigh them.</a:t>
            </a:r>
          </a:p>
          <a:p>
            <a:pPr lvl="0" indent="-342900" marL="342900">
              <a:buAutoNum type="arabicPeriod"/>
            </a:pPr>
            <a:r>
              <a:rPr b="1"/>
              <a:t>VET</a:t>
            </a:r>
            <a:r>
              <a:rPr/>
              <a:t> — Verify the source · Explain it back · Test the edges. For any claim you can’t check.</a:t>
            </a:r>
          </a:p>
          <a:p>
            <a:pPr lvl="0" indent="0" marL="0">
              <a:buNone/>
            </a:pPr>
            <a:r>
              <a:rPr i="1"/>
              <a:t>Prompts for all three are on the companion site.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Average / Precise × Small / Large.</a:t>
            </a:r>
          </a:p>
          <a:p>
            <a:pPr lvl="0"/>
            <a:r>
              <a:rPr b="1"/>
              <a:t>Lean in:</a:t>
            </a:r>
            <a:r>
              <a:rPr/>
              <a:t> competitor scans, brainstorming, first drafts.</a:t>
            </a:r>
          </a:p>
          <a:p>
            <a:pPr lvl="0"/>
            <a:r>
              <a:rPr b="1"/>
              <a:t>Human owns it:</a:t>
            </a:r>
            <a:r>
              <a:rPr/>
              <a:t> the go/no-go, the customer, the positioning call, any number in a pitch.</a:t>
            </a:r>
          </a:p>
          <a:p>
            <a:pPr lvl="0" indent="0" marL="0">
              <a:buNone/>
            </a:pPr>
            <a:r>
              <a:rPr i="1"/>
              <a:t>Where it hurts to be wrong, you stay in charge — and when the grid says verify, VET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method, in three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Add context</a:t>
            </a:r>
            <a:r>
              <a:rPr/>
              <a:t> — the specifics only you hold.</a:t>
            </a:r>
          </a:p>
          <a:p>
            <a:pPr lvl="0" indent="-342900" marL="342900">
              <a:buAutoNum type="arabicPeriod"/>
            </a:pPr>
            <a:r>
              <a:rPr b="1"/>
              <a:t>Prompt past the flattery</a:t>
            </a:r>
            <a:r>
              <a:rPr/>
              <a:t> — ask “why does this fail?”, not “what do you think?”</a:t>
            </a:r>
          </a:p>
          <a:p>
            <a:pPr lvl="0" indent="-342900" marL="342900">
              <a:buAutoNum type="arabicPeriod"/>
            </a:pPr>
            <a:r>
              <a:rPr b="1"/>
              <a:t>Stay sceptical where you know least.</a:t>
            </a:r>
          </a:p>
          <a:p>
            <a:pPr lvl="0" indent="0" marL="1270000">
              <a:buNone/>
            </a:pPr>
            <a:r>
              <a:rPr sz="2000"/>
              <a:t>AI as a thinking partner, not a stand-in.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The companion site</a:t>
            </a:r>
            <a:r>
              <a:rPr/>
              <a:t> — RTCF builder, prompt library, trust tool + VET.</a:t>
            </a:r>
          </a:p>
          <a:p>
            <a:pPr lvl="0"/>
            <a:r>
              <a:rPr b="1"/>
              <a:t>The starter prompts</a:t>
            </a:r>
            <a:r>
              <a:rPr/>
              <a:t> — copy-paste, from today.</a:t>
            </a:r>
          </a:p>
          <a:p>
            <a:pPr lvl="0"/>
            <a:r>
              <a:rPr b="1"/>
              <a:t>Tonight:</a:t>
            </a:r>
            <a:r>
              <a:rPr/>
              <a:t> run move 1 on your real idea.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Direct it. Don’t delegate. Never surrender.</a:t>
            </a:r>
          </a:p>
        </p:txBody>
      </p:sp>
      <p:pic>
        <p:nvPicPr>
          <p:cNvPr descr="qr-compan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Companion site — prompts, tools, this deck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2026-08-17T06:30:51Z</dcterms:created>
  <dcterms:modified xsi:type="dcterms:W3CDTF">2026-08-17T06:30:51Z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