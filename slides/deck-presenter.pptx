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is up as people arrive, poll QR live. Point once: *"While you arrive — one question."*</a:t>
            </a:r>
          </a:p>
          <a:p/>
          <a:p>
            <a:r>
              <a:t>**Cold open — tell Dave's story, don't welcome anyone yet.** *"Picture a sparkie — call him Dave. Sole trader out of Midland, turns over about $300k. Somewhere in his ute is a glovebox stuffed with receipts, and he's a full BAS quarter behind. Here's the thing — Dave doesn't hate tax. He hates the chair: the sitting-down-at-9pm-with-a-laptop part. He'll do a 12-hour day in 40-degree heat, no worries; ask him to file a receipt and he'll find literally anything else to do."*</a:t>
            </a:r>
          </a:p>
          <a:p/>
          <a:p>
            <a:r>
              <a:t>Then the turn: *"In about ten minutes, we're going to pitch an app that rescues Dave to an AI — live — and you're going to watch that AI lie to us. Then we're going to fix it."*</a:t>
            </a:r>
          </a:p>
          <a:p/>
          <a:p>
            <a:r>
              <a:t>**Then use the poll as the thesis, demonstrated.** Glance at the histogram and say what it shows: *"Half of you told us AI is already part of how you run your venture. Good — because it's also part of how your competitor runs theirs. When everyone has the brilliant assistant, nobody has an advantage. Today is about where the advantage moved."* This one beat converts the advanced half from "I know this already" to "this is about me."</a:t>
            </a:r>
          </a:p>
          <a:p/>
          <a:p>
            <a:r>
              <a:t>Now the provocation — deliver it as your own claim, don't read the quote block. The question at the end ("where does your edge actually live?") is the whole hour; let it hang for two seconds.</a:t>
            </a:r>
          </a:p>
          <a:p/>
          <a:p>
            <a:r>
              <a:t>Show of hands (who's used AI this week) — count it, don't discuss it. Housekeeping: slides are signposts, the site is the handout, scan now or later.</a:t>
            </a:r>
          </a:p>
          <a:p/>
          <a:p>
            <a:r>
              <a:t>**Do:** if the live histogram contradicts the pre-poll (more A/B than expected), drop the "half of you" line to *"many of you"* and slow the follow-along instruction later — the beat still works.</a:t>
            </a:r>
          </a:p>
          <a:p/>
          <a:p>
            <a:r>
              <a:t>**Advance:** off the hanging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 was the competition angle (everyone has it). This slide is the capability angle — don't restate, change the question. Ask the room: *"Why can't I just ask AI to write me the next viral app, or the next bestseller? It has read every bestseller ever written. It knows every app that ever went viral. So — why can't it?"* Let it hang. If someone offers an answer, take it and build on it, don't correct it.</a:t>
            </a:r>
          </a:p>
          <a:p/>
          <a:p>
            <a:r>
              <a:t>The answer plants the hour's key word: it gives you the **average**. It's a machine for the centre of the distribution — the most plausible next thing, synthesised from everything everyone has already done. Fluent, usually right, and identical for whoever asks. But a bestseller lives in the *tail*: a taste call, a timing bet, a contrarian read the average disagrees with. The tail isn't in the model. It's in you.</a:t>
            </a:r>
          </a:p>
          <a:p/>
          <a:p>
            <a:r>
              <a:t>Now point at the slide's last row and give the tail its name: **judgement** — taste, context, the variation no identical model can reproduce. "The average" comes back twice, on purpose: the generic pitch in move 3 *is* the average, live — and the trust tool's first axis is literally named for it.</a:t>
            </a:r>
          </a:p>
          <a:p/>
          <a:p>
            <a:r>
              <a:t>**Advance:** the moment "the tail is in you" lands. Don't linger — this slide is a promise, not a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slide shows the résumé; you supply the tone — dry, fast, almost throwaway. The unspoken question you're answering: "has this person actually done it, or do they just lecture about it?"</a:t>
            </a:r>
          </a:p>
          <a:p/>
          <a:p>
            <a:r>
              <a:t>The one line to deliver with a beat of silence after: *"the deck you're watching, the site you scanned, and the poll you just answered were all built in conversation with AI."* Don't elaborate. Understatement is the credibility.</a:t>
            </a:r>
          </a:p>
          <a:p/>
          <a:p>
            <a:r>
              <a:t>**Transition:** *"So — Dave's app. Let's find out what it's up against first."*</a:t>
            </a:r>
          </a:p>
          <a:p/>
          <a:p>
            <a:r>
              <a:t>**Advance:** on that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slide names the trap; you supply the *why* and the *cost*. Why it happens: the model was trained on human approval — agreeable answers score better. It's not lying, it's people-pleasing at scale.</a:t>
            </a:r>
          </a:p>
          <a:p/>
          <a:p>
            <a:r>
              <a:t>**Frame both traps for heavy users, not beginners:** *"These two get worse the more you use it — familiarity breeds trust. If AI already runs half your workflow, you're consuming more of its output than anyone, and this tax compounds."* The advanced half thinks they're past this; that belief is the trap.</a:t>
            </a:r>
          </a:p>
          <a:p/>
          <a:p>
            <a:r>
              <a:t>The cost, for founders specifically: praise stops iteration. *"The most dangerous thing a founder can hear in month one is 'great idea' — because you stop stress-testing exactly when stress-testing is cheapest."*</a:t>
            </a:r>
          </a:p>
          <a:p/>
          <a:p>
            <a:r>
              <a:t>Tease, don't teach, the defence: *"You can prompt straight past this — you'll watch it happen in about twenty minutes."*</a:t>
            </a:r>
          </a:p>
          <a:p/>
          <a:p>
            <a:r>
              <a:t>**Advance:** on the tease.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Tell the origin story — it's not on the slide and it's why the name sticks. *"Michael Crichton named this after his friend, the physicist Murray Gell-Mann. You open the newspaper, read an article on something you actually know, and it's riddled with errors. Then you turn the page to the finance section — and read it as if it's gospel. Same paper. Same journalists. You knew they got your field wrong, and you forgot it one page later."*</a:t>
            </a:r>
          </a:p>
          <a:p/>
          <a:p>
            <a:r>
              <a:t>Then map it: your domain = the trade, the product. The page you turn to = the market size, the regs, the numbers. AI writes every page with the same confident fluency.</a:t>
            </a:r>
          </a:p>
          <a:p/>
          <a:p>
            <a:r>
              <a:t>**For the daily users specifically:** *"This one bites hardest the more you delegate — because the more of your venture AI runs, the more pages you're reading that you can't check."* The heavier the usage, the more relevant, not less.</a:t>
            </a:r>
          </a:p>
          <a:p/>
          <a:p>
            <a:r>
              <a:t>Defence in one line: be *most* sceptical where you know *least* — inverted from what feels natural.</a:t>
            </a:r>
          </a:p>
          <a:p/>
          <a:p>
            <a:r>
              <a:t>(Dismissal Fallacy is deliberately cut — don't mention it.)</a:t>
            </a:r>
          </a:p>
          <a:p/>
          <a:p>
            <a:r>
              <a:t>**Transition:** *"Right. Everyone open a chat window — we're going to Dave's rescue."* This is the minute-12 mark.</a:t>
            </a:r>
          </a:p>
          <a:p/>
          <a:p>
            <a:r>
              <a:t>**Advance:** as laptops open.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Choreography slide — almost everything here is Do, not Say.</a:t>
            </a:r>
          </a:p>
          <a:p/>
          <a:p>
            <a:r>
              <a:t>**Say the IP beat first, before anyone pastes** (verbatim, it's rehearsed): free chat is someone else's cloud; sensitive idea → work the tradie example now, run yours tonight in Msty; frontier power vs privacy is a founder decision that never goes away. This gives permission to watch instead of paste — some of the room needs that permission.</a:t>
            </a:r>
          </a:p>
          <a:p/>
          <a:p>
            <a:r>
              <a:t>**Do, in order:** (1) companion site on the projector, scroll to the session prompts — say *"everything I paste today comes from your handout, in order — nothing up my sleeve."* (2) Fresh chat tab beside it. (3) Confirm the room is in: *"One of the three free chats on screen — you run your idea in parallel, or just watch. Both work."*</a:t>
            </a:r>
          </a:p>
          <a:p/>
          <a:p>
            <a:r>
              <a:t>**Mixed models on the floor — name it as lesson one, then set one rule.** (Dry runs: Gemini writes a market report, Claude writes one and asks for your wedge, Fable offers a 10-minute Research mode.) Say: *"You're on different models, and you'll get different answers — different formats, different voices; one of them may offer to go away and research for ten minutes. That's not a bug — it's the first finding: none of them will be specific to you until you make them."* The rule: decline research/agent modes today — *"we're conversing, not commissioning. That button is ten minutes of very thorough research into the market everyone can see — press it in move 2, when you've got an assumption worth verifying."* (Research mode = the verify column of the trust tool — the callback lands at slide 11.)</a:t>
            </a:r>
          </a:p>
          <a:p/>
          <a:p>
            <a:r>
              <a:t>**Harvest the differences, don't fight them:** after each pass ask *"who got something different?"* — take one or two, max. A clarifying question, a research offer, a different format: free teaching material. More than two and you lose the clock.</a:t>
            </a:r>
          </a:p>
          <a:p/>
          <a:p>
            <a:r>
              <a:t>**Fast-finisher escalation (operator-heavy room will need it):** *"Done before me? Go to the starter prompts on the site and run the board of directors on your idea."* Say it once here; repeat as needed during the moves.</a:t>
            </a:r>
          </a:p>
          <a:p/>
          <a:p>
            <a:r>
              <a:t>**Advance:** to slide 7 as you copy prompt 1. From here to slide 10 the deck is a backdrop.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**Pass 1 — frame it as the control, not a lesson.** An operator will bristle at "here's how you might prompt" (*I'd never prompt like that*). So say it straight: *"None of you would paste a prompt this lazy. But this is the baseline — watch what the market gets."*</a:t>
            </a:r>
          </a:p>
          <a:p/>
          <a:p>
            <a:r>
              <a:t>**Run the live demo on Gemini.** Dry runs (18 Aug) on both Gemini and Claude: Gemini obeys the Format line — three assumptions, one line each — which gives the clean essay-vs-three-lines contrast on screen and leaves prompts 3–4 something to do. Claude's answers are richer but front-run move 2 and the cheapest-experiment beat (it volunteered a $300 shoebox test in pass 2). Claude output = Q&amp;A/backup depth, and a bonus line: its naive answer literally asked for the wedge — *"even the model knows what's missing from this prompt: it's asking for my edge."*</a:t>
            </a:r>
          </a:p>
          <a:p/>
          <a:p>
            <a:r>
              <a:t>**Don't promise flattery — promise sameness.** Both models returned no love-fest on the naive prompt but a competent, critical consultant's report — competitors, risks, a validation plan. Sycophancy still shows on opinion-asks ("what do you think?"), not task-asks. The reveal works for any outcome: *"I ran this on two different companies' models last night — different vendors, same report. Notice the one thing this answer can't be: specific to me. If it flatters me — everyone gets flattered. If it's this market report — everyone gets this exact report. Either way: the average, live."* (If it DOES gush: name trap 1 from slide four, live — a gift, take it.)</a:t>
            </a:r>
          </a:p>
          <a:p/>
          <a:p>
            <a:r>
              <a:t>**If a confident competitor list appears (Claude named six, several unverifiable): that's trap 2, live.** *"Six competitors, named with confidence. Which are real? You can't tell from up here — smoothness isn't accuracy. That's why VET exists."* Assert unverifiability, never that a specific one is fake — you can't check from the podium either; that's the point.</a:t>
            </a:r>
          </a:p>
          <a:p/>
          <a:p>
            <a:r>
              <a:t>**Pass 2 — the point is strategy, not prompt technique.** Half this room knows RTCF mechanically; almost none of them treat their context as the moat. Before sending, point at the slide's Role · Task · **Context** · Format and land it at that altitude: *"Context is the only line the model can't invent — and the only line your competitor can't copy. It's your defensible asset; the discipline is injecting it every single time."* Dave's context — the $150–400k sole trader, the bookkeeper-shaped competitors, the penalties-not-deductions bet — took a founder to know.</a:t>
            </a:r>
          </a:p>
          <a:p/>
          <a:p>
            <a:r>
              <a:t>When it returns, show the aiming — the three assumptions are the three context lines handed back as testable risks, one for one (dry run confirms Gemini does this): servo photo → will they open an app at the pump; bookkeeper bet → standalone value vs churn back to full accounting; penalties bet → will saved fines be attributed and paid for. Then the reveal, slowly: *"Same model. Same idea. Sixty seconds apart. The AI did not get smarter — I aimed it."* Thesis, second landing.</a:t>
            </a:r>
          </a:p>
          <a:p/>
          <a:p>
            <a:r>
              <a:t>**Hold in your head:** this same model calls the idea a PIVOT with a $50 experiment in move 2. Don't foreshadow it to the room — the surprise is the payoff.</a:t>
            </a:r>
          </a:p>
          <a:p/>
          <a:p>
            <a:r>
              <a:t>**The suggestion chips (Gemini offers "where should we focus next?" after pass 2) — half a beat, not an apology:** *"See these? The model's offering to drive. They're reasonable — and they're follow-ups to* its *answer, not* my *priorities. At home, click them when they match where you were already going. Just notice who decided. Today, we drive: why does this fail?"* (If its first chip is close to the pressure-test anyway, add: *"its suggestion is near where I'm headed — but I'll frame it my way, as an attack."*) Same discipline as declining the Research button — direct it, don't delegate applies to navigation too.</a:t>
            </a:r>
          </a:p>
          <a:p/>
          <a:p>
            <a:r>
              <a:t>**Advance:** to slide 8 as you copy prompt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Paste prompt 3. Read the three failure reasons out loud — slower than feels natural; this is the room hearing an AI be genuinely useful for the first time today. Then prompt 4.</a:t>
            </a:r>
          </a:p>
          <a:p/>
          <a:p>
            <a:r>
              <a:t>**The arc — name it the moment the verdict lands, using whatever pass 1 actually was:** *"Twenty minutes ago this model gave me [the everyone-gets-it market report / a round of applause]. Now it's naming the single assumption most likely to kill this, and the cheapest experiment to test it. Generic, to aimed, to a decision — that arc is the entire session in one thread."*</a:t>
            </a:r>
          </a:p>
          <a:p/>
          <a:p>
            <a:r>
              <a:t>Normalise the kill — the room needs to hear a lecturer say it: *"If it had said Kill, that's a win. A fast cheap kill is the best deal in startups; the expensive version of this lesson costs eighteen months."*</a:t>
            </a:r>
          </a:p>
          <a:p/>
          <a:p>
            <a:r>
              <a:t>Name the tool as you leave: what we just ran is the *devil's advocate* — the first of three; the other two get one line each later.</a:t>
            </a:r>
          </a:p>
          <a:p/>
          <a:p>
            <a:r>
              <a:t>**Time check at 36:** behind → cut move 3's pass 2, never the reveal.</a:t>
            </a:r>
          </a:p>
          <a:p/>
          <a:p>
            <a:r>
              <a:t>**Advance:** to slide 9 as you copy prompt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Pass 1 (prompt 5): when the generic pitch appears, ask the room, don't tell: *"Would you remember this tomorrow? Neither would an investor."* Then cash slide 2's promise: *"This is the average, live — the centre of the distribution. Every founder who asks gets this pitch."*</a:t>
            </a:r>
          </a:p>
          <a:p/>
          <a:p>
            <a:r>
              <a:t>Pass 2 (prompt 6): before sending, read Dave's voice sample aloud with the accent it deserves — "they don't hate tax, they hate the chair" gets a laugh and *earns* the contrast. The room pastes their own writing via the template.</a:t>
            </a:r>
          </a:p>
          <a:p/>
          <a:p>
            <a:r>
              <a:t>Put both pitches side by side — they're two consecutive replies in the same thread; copy the two 60-worders into a blank doc (or scroll between them) so the room sees both at once — and shut up for five seconds. Then: *"Nothing changed except whose words went in. The difference is the edge."* (If pass 1 came out edge-aware because the thread already holds Dave's context, narrow the caption to voice: *"competent — but it could be anyone's. Now listen to Dave's."*)</a:t>
            </a:r>
          </a:p>
          <a:p/>
          <a:p>
            <a:r>
              <a:t>**Then the meta-beat — once, here, nowhere else:** *"And notice what just happened in the silence. Nobody told you the second one was better. No model ranked them. You judged it — instantly. That comparison you just made in your head is the one thing that never went to the cloud. That's the human in the loop — and it's the part you can't delegate."* The room just proved the thesis on themselves; caption it and move on.</a:t>
            </a:r>
          </a:p>
          <a:p/>
          <a:p>
            <a:r>
              <a:t>One-line nod: the style-brief trick makes this permanent — it's linked on the site. **(Stretch lever for an advanced room: make this a 3-minute segment — generate a style brief live from the voice sample and paste it into custom instructions. Daily users use AI constantly and almost never systematise this.)**</a:t>
            </a:r>
          </a:p>
          <a:p/>
          <a:p>
            <a:r>
              <a:t>**Advance:** to slide 10, energy up — the live block is done, stick the landing.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slide lists them; you only connect and locate. Devil's advocate — *"you just watched it."* Board of directors — one colour line: *"the CFO in that room will hate your pricing; better to hear it from a fake CFO for free."* VET — point forward: *"that one earns its keep in two minutes."* All three prompts on the site.</a:t>
            </a:r>
          </a:p>
          <a:p/>
          <a:p>
            <a:r>
              <a:t>**Planned stretch #1 lives here (likely needed — an operator room runs the live block fast):** if you're at this slide before ~45:00, run the board of directors live on Dave's idea — starter prompt from the site, same chat thread. Three voices come back; point at the disagreement: *"Notice they don't agree. That's the point — they advise, you decide. An answer machine gives you one answer; a board gives you a decision to make."* 3–4 minutes, and it's the beat the organisers loved.</a:t>
            </a:r>
          </a:p>
          <a:p/>
          <a:p>
            <a:r>
              <a:t>**Advance:** briskly. This slide is a landing, not a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**Open with the callback — it makes the grid click instantly:** *"Remember the question from the start — why can't AI write the next bestseller? Because it gives you the average. That's this axis. Where the average is good enough — drafts, scans, brainstorms — lean in. Where you need the tail — the call, the number, the bet — that's yours."* The grid stops being a framework and becomes the answer to the opening question.</a:t>
            </a:r>
          </a:p>
          <a:p/>
          <a:p>
            <a:r>
              <a:t>The grid is on the slide; you supply the sorting exercise. Give the room two concrete calls to make: *"Market-sizing first pass — which box?"* (lean in, verify lightly). *"The revenue number in your pitch deck?"* (human owns it, full stop). Let them answer out loud; correcting a wrong answer teaches the grid better than presenting it.</a:t>
            </a:r>
          </a:p>
          <a:p/>
          <a:p>
            <a:r>
              <a:t>The keeper line, verbatim, once: *"Where it hurts to be wrong, you stay in charge."*</a:t>
            </a:r>
          </a:p>
          <a:p/>
          <a:p>
            <a:r>
              <a:t>Close the loop from slide 10: VET is *how* you do the verify column — it's in the starter prompts as "VET the claim."</a:t>
            </a:r>
          </a:p>
          <a:p/>
          <a:p>
            <a:r>
              <a:t>**Advance:** at ~53:00.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is on the slide. Your only job: connect each line to the moment they watched it happen — context → pass 2 of move 1; past the flattery → move 2's verdict; sceptical where you know least → the Gell-Mann page-turn. *"You didn't learn a theory today. You watched all three."*</a:t>
            </a:r>
          </a:p>
          <a:p/>
          <a:p>
            <a:r>
              <a:t>Thesis, third landing: thinking partner, not stand-in.</a:t>
            </a:r>
          </a:p>
          <a:p/>
          <a:p>
            <a:r>
              <a:t>**Advance:** into the close.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it one action, not four bullets: *"Tonight, before you lose the nerve: run move 1 on your real idea. Naive first, then with your edge. When you feel the difference — that feeling is the method."* Everything else — the builder, the library, Notebook, Msty — is on the site, and the site is bookmarked.</a:t>
            </a:r>
          </a:p>
          <a:p/>
          <a:p>
            <a:r>
              <a:t>**Q&amp;A deflection, whenever a tool question comes** ("which one should I use?", "what about Grok Bot?"): *"The names change monthly. AI literacy isn't about the tool — it's about how you converse with it. Everything you watched today works in any of them."* One sentence, back to the method.</a:t>
            </a:r>
          </a:p>
          <a:p/>
          <a:p>
            <a:r>
              <a:t>Close on the line, then stop talking: *"Direct it. Don't delegate. Never surrender."*</a:t>
            </a:r>
          </a:p>
          <a:p/>
          <a:p>
            <a:r>
              <a:t>**Do:** leave the slide up as they pack — the QR keeps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hyperlink" Target="https://classpulse.borck.education/audience/RXARHX" TargetMode="External"/><Relationship Id="rId5" Type="http://schemas.openxmlformats.org/officeDocument/2006/relationships/hyperlink" Target="https://michael-borck.github.io/ai-for-founders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hyperlink" Target="https://michael-borck.github.io/ai-for-founders/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Relationship Id="rId4" Type="http://schemas.openxmlformats.org/officeDocument/2006/relationships/hyperlink" Target="https://michael-borck.github.io/ai-for-founders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hlinkClick r:id="rId4"/>
          </p:cNvPr>
          <p:cNvSpPr/>
          <p:nvPr/>
        </p:nvSpPr>
        <p:spPr>
          <a:xfrm>
            <a:off x="1333500" y="3908970"/>
            <a:ext cx="1047750" cy="1047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4"/>
          </p:cNvPr>
          <p:cNvSpPr/>
          <p:nvPr/>
        </p:nvSpPr>
        <p:spPr>
          <a:xfrm>
            <a:off x="2548830" y="4542680"/>
            <a:ext cx="3264544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>
            <a:hlinkClick r:id="rId5"/>
          </p:cNvPr>
          <p:cNvSpPr/>
          <p:nvPr/>
        </p:nvSpPr>
        <p:spPr>
          <a:xfrm>
            <a:off x="1333500" y="5581352"/>
            <a:ext cx="1047750" cy="1047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>
            <a:hlinkClick r:id="rId5"/>
          </p:cNvPr>
          <p:cNvSpPr/>
          <p:nvPr/>
        </p:nvSpPr>
        <p:spPr>
          <a:xfrm>
            <a:off x="4958357" y="6114752"/>
            <a:ext cx="3031331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hlinkClick r:id="rId4"/>
          </p:cNvPr>
          <p:cNvSpPr/>
          <p:nvPr/>
        </p:nvSpPr>
        <p:spPr>
          <a:xfrm>
            <a:off x="1333500" y="5001815"/>
            <a:ext cx="1047750" cy="1047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4"/>
          </p:cNvPr>
          <p:cNvSpPr/>
          <p:nvPr/>
        </p:nvSpPr>
        <p:spPr>
          <a:xfrm>
            <a:off x="2548830" y="5535215"/>
            <a:ext cx="3031331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hlinkClick r:id="rId4"/>
          </p:cNvPr>
          <p:cNvSpPr/>
          <p:nvPr/>
        </p:nvSpPr>
        <p:spPr>
          <a:xfrm>
            <a:off x="1333500" y="4645669"/>
            <a:ext cx="1047750" cy="1047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4"/>
          </p:cNvPr>
          <p:cNvSpPr/>
          <p:nvPr/>
        </p:nvSpPr>
        <p:spPr>
          <a:xfrm>
            <a:off x="2548830" y="5179069"/>
            <a:ext cx="3031331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